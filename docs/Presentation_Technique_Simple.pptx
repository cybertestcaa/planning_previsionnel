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Suivi de Chantiers — Comment ca marche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FDBFE"/>
                </a:solidFill>
                <a:latin typeface="Calibri"/>
              </a:rPr>
              <a:t>Explique simplement, pour tout le monde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114800"/>
            <a:ext cx="3657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3C5FD"/>
                </a:solidFill>
                <a:latin typeface="Calibri"/>
              </a:rPr>
              <a:t>Projet SUIVI DE CHANTIERS  •  CAA Guadeloupe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Ce qu'on va voir 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F1F1F"/>
                </a:solidFill>
                <a:latin typeface="Calibri"/>
              </a:rPr>
              <a:t>•  L'application en bref : </a:t>
            </a:r>
            <a:r>
              <a:rPr sz="1800">
                <a:solidFill>
                  <a:srgbClr val="1F1F1F"/>
                </a:solidFill>
                <a:latin typeface="Calibri"/>
              </a:rPr>
              <a:t>a quoi elle sert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F1F1F"/>
                </a:solidFill>
                <a:latin typeface="Calibri"/>
              </a:rPr>
              <a:t>•  Comment ca fonctionne : </a:t>
            </a:r>
            <a:r>
              <a:rPr sz="1800">
                <a:solidFill>
                  <a:srgbClr val="1F1F1F"/>
                </a:solidFill>
                <a:latin typeface="Calibri"/>
              </a:rPr>
              <a:t>l'analogie du restaurant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F1F1F"/>
                </a:solidFill>
                <a:latin typeface="Calibri"/>
              </a:rPr>
              <a:t>•  Les outils : </a:t>
            </a:r>
            <a:r>
              <a:rPr sz="1800">
                <a:solidFill>
                  <a:srgbClr val="1F1F1F"/>
                </a:solidFill>
                <a:latin typeface="Calibri"/>
              </a:rPr>
              <a:t>a quoi sert chaque brique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F1F1F"/>
                </a:solidFill>
                <a:latin typeface="Calibri"/>
              </a:rPr>
              <a:t>•  Ou vit l'application : </a:t>
            </a:r>
            <a:r>
              <a:rPr sz="1800">
                <a:solidFill>
                  <a:srgbClr val="1F1F1F"/>
                </a:solidFill>
                <a:latin typeface="Calibri"/>
              </a:rPr>
              <a:t>le serveur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F1F1F"/>
                </a:solidFill>
                <a:latin typeface="Calibri"/>
              </a:rPr>
              <a:t>•  D'ou viennent les donnees : </a:t>
            </a:r>
            <a:r>
              <a:rPr sz="1800">
                <a:solidFill>
                  <a:srgbClr val="1F1F1F"/>
                </a:solidFill>
                <a:latin typeface="Calibri"/>
              </a:rPr>
              <a:t>la synchronisation HK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1F1F"/>
                </a:solidFill>
                <a:latin typeface="Calibri"/>
              </a:rPr>
              <a:t>•  Comment on met a jour l'application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F1F1F"/>
                </a:solidFill>
                <a:latin typeface="Calibri"/>
              </a:rPr>
              <a:t>•  La securite : </a:t>
            </a:r>
            <a:r>
              <a:rPr sz="1800">
                <a:solidFill>
                  <a:srgbClr val="1F1F1F"/>
                </a:solidFill>
                <a:latin typeface="Calibri"/>
              </a:rPr>
              <a:t>qui peut acceder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F1F1F"/>
                </a:solidFill>
                <a:latin typeface="Calibri"/>
              </a:rPr>
              <a:t>•  Pour aller plus loin : </a:t>
            </a:r>
            <a:r>
              <a:rPr sz="1800">
                <a:solidFill>
                  <a:srgbClr val="1F1F1F"/>
                </a:solidFill>
                <a:latin typeface="Calibri"/>
              </a:rPr>
              <a:t>si vous devez intervenir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400"/>
              </a:spcBef>
            </a:pPr>
            <a:r>
              <a:rPr sz="4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L'application en bref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FDBFE"/>
                </a:solidFill>
                <a:latin typeface="Calibri"/>
              </a:rPr>
              <a:t>Ce qu'elle fait, pour qui, et pourquoi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Qu'est-ce que l'application « Suivi de Chantiers » 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11247120" cy="914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73152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En une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C'est un site web interne qui permet de planifier qui travaille sur quel chantier, et de suivre l'avancement.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Planning : </a:t>
            </a:r>
            <a:r>
              <a:rPr sz="1300">
                <a:solidFill>
                  <a:srgbClr val="1F1F1F"/>
                </a:solidFill>
                <a:latin typeface="Calibri"/>
              </a:rPr>
              <a:t>affecter les employes sur les chantiers, matin ou apres-midi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Vue Gantt : </a:t>
            </a:r>
            <a:r>
              <a:rPr sz="1300">
                <a:solidFill>
                  <a:srgbClr val="1F1F1F"/>
                </a:solidFill>
                <a:latin typeface="Calibri"/>
              </a:rPr>
              <a:t>voir les dates de debut/fin de chaque chantier sur un calendrier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Suivi chantier : </a:t>
            </a:r>
            <a:r>
              <a:rPr sz="1300">
                <a:solidFill>
                  <a:srgbClr val="1F1F1F"/>
                </a:solidFill>
                <a:latin typeface="Calibri"/>
              </a:rPr>
              <a:t>savoir qui intervient et ou on en est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Calendrier personnel : </a:t>
            </a:r>
            <a:r>
              <a:rPr sz="1300">
                <a:solidFill>
                  <a:srgbClr val="1F1F1F"/>
                </a:solidFill>
                <a:latin typeface="Calibri"/>
              </a:rPr>
              <a:t>voir le planning d'un employe (presences, absences)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Plans : </a:t>
            </a:r>
            <a:r>
              <a:rPr sz="1300">
                <a:solidFill>
                  <a:srgbClr val="1F1F1F"/>
                </a:solidFill>
                <a:latin typeface="Calibri"/>
              </a:rPr>
              <a:t>gerer les plans de fabrication lies aux commandes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Questions : </a:t>
            </a:r>
            <a:r>
              <a:rPr sz="1300">
                <a:solidFill>
                  <a:srgbClr val="1F1F1F"/>
                </a:solidFill>
                <a:latin typeface="Calibri"/>
              </a:rPr>
              <a:t>poser des questions sur un chantier et suivre les reponses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Creation d'OF : </a:t>
            </a:r>
            <a:r>
              <a:rPr sz="1300">
                <a:solidFill>
                  <a:srgbClr val="1F1F1F"/>
                </a:solidFill>
                <a:latin typeface="Calibri"/>
              </a:rPr>
              <a:t>regrouper les articles en ordres de fabrication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Qui utilise l'application ?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554480"/>
            <a:ext cx="3566160" cy="3200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554480"/>
            <a:ext cx="73152" cy="3200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Les chefs d'atelier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Ils planifient les employes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134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sur les chantiers au quotidien.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694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82549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Ils voient les absences, 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815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disponibilites, les chantiers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37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en cours et a venir.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1554480"/>
            <a:ext cx="3566160" cy="3200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14800" y="1554480"/>
            <a:ext cx="73152" cy="3200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0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Les responsables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057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Ils suivent l'avancement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3134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global des chantiers.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694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0" y="282549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Ils consultent la vue Gantt,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0815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les dashboards, et 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337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questions en cours.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1554480"/>
            <a:ext cx="3566160" cy="3200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55279" y="1554480"/>
            <a:ext cx="73152" cy="3200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599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Le bureau d'etudes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9" y="2057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Ils gerent les plans 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9" y="23134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fabrication et les ordres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9" y="25694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de fabrication (OF).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9" y="282549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599" y="30815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Ils posent et repondent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9" y="3337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aux questions techniques.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400"/>
              </a:spcBef>
            </a:pPr>
            <a:r>
              <a:rPr sz="4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Comment ca fonctionne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FDBFE"/>
                </a:solidFill>
                <a:latin typeface="Calibri"/>
              </a:rPr>
              <a:t>L'analogie du restaurant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Imaginez un restaurant...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FDBFE"/>
                </a:solidFill>
                <a:latin typeface="Calibri"/>
              </a:rPr>
              <a:t>Pour comprendre comment l'application est construite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54480"/>
            <a:ext cx="2743200" cy="4389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73152" cy="4389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La salle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C'est ce que les clients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134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voient : le menu, les tables,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94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la deco, les serveurs.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254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081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= Le SITE 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37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(ce que vous voyez quand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935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vous ouvrez l'application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496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dans votre navigateur)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056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3616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On appelle ca le FRONTEND.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1554480"/>
            <a:ext cx="2743200" cy="4389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91840" y="1554480"/>
            <a:ext cx="73152" cy="43891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6616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La cuisine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057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C'est la ou les plats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23134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sont prepares. Les clients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25694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ne la voient jamais.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28254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66160" y="3081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= Le SERVEUR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337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(le programme qui traite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5935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vos demandes : « affiche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8496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le planning de Lundi »)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1056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66160" y="43616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On appelle ca le BACKEND.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554480"/>
            <a:ext cx="2743200" cy="4389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09360" y="1554480"/>
            <a:ext cx="73152" cy="43891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Le frigo / le stock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2057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C'est la ou sont gardes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23134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tous les ingredients.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25694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83680" y="28254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= La BASE DE DONNEES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3081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(la ou sont stockees toutes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3337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les infos : employes,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35935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chantiers, planning,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38496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plans, questions...)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41056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83680" y="43616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Un simple fichier sur le serveur.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26880" y="1554480"/>
            <a:ext cx="2743200" cy="4389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326880" y="1554480"/>
            <a:ext cx="73152" cy="4389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60120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Le fournisseur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2057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C'est celui qui livre 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0" y="23134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ingredients au restaurant.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25694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01200" y="28254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= MICROSOFT FABRIC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3081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(le systeme HK qui envoie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3337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les donnees des filiales,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0" y="35935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employes, chantiers, etc.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8496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automatiquement chaque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0" y="41056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heure)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Le parcours d'une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FDBFE"/>
                </a:solidFill>
                <a:latin typeface="Calibri"/>
              </a:rPr>
              <a:t>Quand vous cliquez sur « Voir le planning de Lundi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280160"/>
            <a:ext cx="114300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endParaRPr dirty="0"/>
          </a:p>
          <a:p>
            <a:pPr>
              <a:spcAft>
                <a:spcPts val="0"/>
              </a:spcAft>
            </a:pPr>
            <a:r>
              <a:rPr sz="1100" dirty="0">
                <a:solidFill>
                  <a:srgbClr val="1E3A5F"/>
                </a:solidFill>
                <a:latin typeface="Consolas"/>
              </a:rPr>
              <a:t>    VOUS (le </a:t>
            </a:r>
            <a:r>
              <a:rPr sz="1100" dirty="0" err="1">
                <a:solidFill>
                  <a:srgbClr val="1E3A5F"/>
                </a:solidFill>
                <a:latin typeface="Consolas"/>
              </a:rPr>
              <a:t>navigateur</a:t>
            </a:r>
            <a:r>
              <a:rPr sz="1100" dirty="0">
                <a:solidFill>
                  <a:srgbClr val="1E3A5F"/>
                </a:solidFill>
                <a:latin typeface="Consolas"/>
              </a:rPr>
              <a:t>)          LE SERVEUR (la cuisine)          LA BASE DE DONNEES</a:t>
            </a:r>
          </a:p>
          <a:p>
            <a:pPr>
              <a:spcAft>
                <a:spcPts val="0"/>
              </a:spcAft>
            </a:pPr>
            <a:r>
              <a:rPr sz="1100" dirty="0">
                <a:solidFill>
                  <a:srgbClr val="1E3A5F"/>
                </a:solidFill>
                <a:latin typeface="Consolas"/>
              </a:rPr>
              <a:t>    --------------------          ------------------------          -----------------</a:t>
            </a:r>
          </a:p>
          <a:p>
            <a:pPr>
              <a:spcAft>
                <a:spcPts val="0"/>
              </a:spcAft>
            </a:pPr>
            <a:endParaRPr sz="1100" dirty="0">
              <a:solidFill>
                <a:srgbClr val="1E3A5F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100" dirty="0">
                <a:solidFill>
                  <a:srgbClr val="1E3A5F"/>
                </a:solidFill>
                <a:latin typeface="Consolas"/>
              </a:rPr>
              <a:t>    1. Vous </a:t>
            </a:r>
            <a:r>
              <a:rPr sz="1100" dirty="0" err="1">
                <a:solidFill>
                  <a:srgbClr val="1E3A5F"/>
                </a:solidFill>
                <a:latin typeface="Consolas"/>
              </a:rPr>
              <a:t>cliquez</a:t>
            </a:r>
            <a:r>
              <a:rPr sz="1100" dirty="0">
                <a:solidFill>
                  <a:srgbClr val="1E3A5F"/>
                </a:solidFill>
                <a:latin typeface="Consolas"/>
              </a:rPr>
              <a:t> sur</a:t>
            </a:r>
          </a:p>
          <a:p>
            <a:pPr>
              <a:spcAft>
                <a:spcPts val="0"/>
              </a:spcAft>
            </a:pPr>
            <a:r>
              <a:rPr sz="1100" dirty="0">
                <a:solidFill>
                  <a:srgbClr val="1E3A5F"/>
                </a:solidFill>
                <a:latin typeface="Consolas"/>
              </a:rPr>
              <a:t>       'Planning Lundi'</a:t>
            </a:r>
          </a:p>
          <a:p>
            <a:pPr>
              <a:spcAft>
                <a:spcPts val="0"/>
              </a:spcAft>
            </a:pPr>
            <a:r>
              <a:rPr sz="1100" dirty="0">
                <a:solidFill>
                  <a:srgbClr val="1E3A5F"/>
                </a:solidFill>
                <a:latin typeface="Consolas"/>
              </a:rPr>
              <a:t>              |</a:t>
            </a:r>
          </a:p>
          <a:p>
            <a:pPr>
              <a:spcAft>
                <a:spcPts val="0"/>
              </a:spcAft>
            </a:pPr>
            <a:r>
              <a:rPr sz="1100" dirty="0">
                <a:solidFill>
                  <a:srgbClr val="1E3A5F"/>
                </a:solidFill>
                <a:latin typeface="Consolas"/>
              </a:rPr>
              <a:t>              v</a:t>
            </a:r>
          </a:p>
          <a:p>
            <a:pPr>
              <a:spcAft>
                <a:spcPts val="0"/>
              </a:spcAft>
            </a:pPr>
            <a:r>
              <a:rPr sz="1100" dirty="0">
                <a:solidFill>
                  <a:srgbClr val="1E3A5F"/>
                </a:solidFill>
                <a:latin typeface="Consolas"/>
              </a:rPr>
              <a:t>    2. Le site web </a:t>
            </a:r>
            <a:r>
              <a:rPr sz="1100" dirty="0" err="1">
                <a:solidFill>
                  <a:srgbClr val="1E3A5F"/>
                </a:solidFill>
                <a:latin typeface="Consolas"/>
              </a:rPr>
              <a:t>envoie</a:t>
            </a:r>
            <a:r>
              <a:rPr sz="1100" dirty="0">
                <a:solidFill>
                  <a:srgbClr val="1E3A5F"/>
                </a:solidFill>
                <a:latin typeface="Consolas"/>
              </a:rPr>
              <a:t>   ------&gt;   3. Le </a:t>
            </a:r>
            <a:r>
              <a:rPr sz="1100" dirty="0" err="1">
                <a:solidFill>
                  <a:srgbClr val="1E3A5F"/>
                </a:solidFill>
                <a:latin typeface="Consolas"/>
              </a:rPr>
              <a:t>serveur</a:t>
            </a:r>
            <a:r>
              <a:rPr sz="1100" dirty="0">
                <a:solidFill>
                  <a:srgbClr val="1E3A5F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1E3A5F"/>
                </a:solidFill>
                <a:latin typeface="Consolas"/>
              </a:rPr>
              <a:t>recoit</a:t>
            </a:r>
            <a:endParaRPr sz="1100" dirty="0">
              <a:solidFill>
                <a:srgbClr val="1E3A5F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100" dirty="0">
                <a:solidFill>
                  <a:srgbClr val="1E3A5F"/>
                </a:solidFill>
                <a:latin typeface="Consolas"/>
              </a:rPr>
              <a:t>       </a:t>
            </a:r>
            <a:r>
              <a:rPr sz="1100" dirty="0" err="1">
                <a:solidFill>
                  <a:srgbClr val="1E3A5F"/>
                </a:solidFill>
                <a:latin typeface="Consolas"/>
              </a:rPr>
              <a:t>une</a:t>
            </a:r>
            <a:r>
              <a:rPr sz="1100" dirty="0">
                <a:solidFill>
                  <a:srgbClr val="1E3A5F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1E3A5F"/>
                </a:solidFill>
                <a:latin typeface="Consolas"/>
              </a:rPr>
              <a:t>demande</a:t>
            </a:r>
            <a:r>
              <a:rPr sz="1100" dirty="0">
                <a:solidFill>
                  <a:srgbClr val="1E3A5F"/>
                </a:solidFill>
                <a:latin typeface="Consolas"/>
              </a:rPr>
              <a:t>                       la </a:t>
            </a:r>
            <a:r>
              <a:rPr sz="1100" dirty="0" err="1">
                <a:solidFill>
                  <a:srgbClr val="1E3A5F"/>
                </a:solidFill>
                <a:latin typeface="Consolas"/>
              </a:rPr>
              <a:t>demande</a:t>
            </a:r>
            <a:endParaRPr sz="1100" dirty="0">
              <a:solidFill>
                <a:srgbClr val="1E3A5F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100" dirty="0">
                <a:solidFill>
                  <a:srgbClr val="1E3A5F"/>
                </a:solidFill>
                <a:latin typeface="Consolas"/>
              </a:rPr>
              <a:t>       (</a:t>
            </a:r>
            <a:r>
              <a:rPr sz="1100" dirty="0" err="1">
                <a:solidFill>
                  <a:srgbClr val="1E3A5F"/>
                </a:solidFill>
                <a:latin typeface="Consolas"/>
              </a:rPr>
              <a:t>comme</a:t>
            </a:r>
            <a:r>
              <a:rPr sz="1100" dirty="0">
                <a:solidFill>
                  <a:srgbClr val="1E3A5F"/>
                </a:solidFill>
                <a:latin typeface="Consolas"/>
              </a:rPr>
              <a:t> commander                        |</a:t>
            </a:r>
          </a:p>
          <a:p>
            <a:pPr>
              <a:spcAft>
                <a:spcPts val="0"/>
              </a:spcAft>
            </a:pPr>
            <a:r>
              <a:rPr sz="1100" dirty="0">
                <a:solidFill>
                  <a:srgbClr val="1E3A5F"/>
                </a:solidFill>
                <a:latin typeface="Consolas"/>
              </a:rPr>
              <a:t>        un plat)                               v</a:t>
            </a:r>
          </a:p>
          <a:p>
            <a:pPr>
              <a:spcAft>
                <a:spcPts val="0"/>
              </a:spcAft>
            </a:pPr>
            <a:r>
              <a:rPr sz="1100" dirty="0">
                <a:solidFill>
                  <a:srgbClr val="1E3A5F"/>
                </a:solidFill>
                <a:latin typeface="Consolas"/>
              </a:rPr>
              <a:t>                                     4. Il </a:t>
            </a:r>
            <a:r>
              <a:rPr sz="1100" dirty="0" err="1">
                <a:solidFill>
                  <a:srgbClr val="1E3A5F"/>
                </a:solidFill>
                <a:latin typeface="Consolas"/>
              </a:rPr>
              <a:t>cherche</a:t>
            </a:r>
            <a:r>
              <a:rPr sz="1100" dirty="0">
                <a:solidFill>
                  <a:srgbClr val="1E3A5F"/>
                </a:solidFill>
                <a:latin typeface="Consolas"/>
              </a:rPr>
              <a:t> les     ------&gt;  5. La base </a:t>
            </a:r>
            <a:r>
              <a:rPr sz="1100" dirty="0" err="1">
                <a:solidFill>
                  <a:srgbClr val="1E3A5F"/>
                </a:solidFill>
                <a:latin typeface="Consolas"/>
              </a:rPr>
              <a:t>renvoie</a:t>
            </a:r>
            <a:endParaRPr sz="1100" dirty="0">
              <a:solidFill>
                <a:srgbClr val="1E3A5F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100" dirty="0">
                <a:solidFill>
                  <a:srgbClr val="1E3A5F"/>
                </a:solidFill>
                <a:latin typeface="Consolas"/>
              </a:rPr>
              <a:t>                                        </a:t>
            </a:r>
            <a:r>
              <a:rPr sz="1100" dirty="0" err="1">
                <a:solidFill>
                  <a:srgbClr val="1E3A5F"/>
                </a:solidFill>
                <a:latin typeface="Consolas"/>
              </a:rPr>
              <a:t>infos</a:t>
            </a:r>
            <a:r>
              <a:rPr sz="1100" dirty="0">
                <a:solidFill>
                  <a:srgbClr val="1E3A5F"/>
                </a:solidFill>
                <a:latin typeface="Consolas"/>
              </a:rPr>
              <a:t> necessaires             les </a:t>
            </a:r>
            <a:r>
              <a:rPr sz="1100" dirty="0" err="1">
                <a:solidFill>
                  <a:srgbClr val="1E3A5F"/>
                </a:solidFill>
                <a:latin typeface="Consolas"/>
              </a:rPr>
              <a:t>donnees</a:t>
            </a:r>
            <a:endParaRPr sz="1100" dirty="0">
              <a:solidFill>
                <a:srgbClr val="1E3A5F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100" dirty="0">
                <a:solidFill>
                  <a:srgbClr val="1E3A5F"/>
                </a:solidFill>
                <a:latin typeface="Consolas"/>
              </a:rPr>
              <a:t>                                              |</a:t>
            </a:r>
          </a:p>
          <a:p>
            <a:pPr>
              <a:spcAft>
                <a:spcPts val="0"/>
              </a:spcAft>
            </a:pPr>
            <a:r>
              <a:rPr sz="1100" dirty="0">
                <a:solidFill>
                  <a:srgbClr val="1E3A5F"/>
                </a:solidFill>
                <a:latin typeface="Consolas"/>
              </a:rPr>
              <a:t>                                              v</a:t>
            </a:r>
          </a:p>
          <a:p>
            <a:pPr>
              <a:spcAft>
                <a:spcPts val="0"/>
              </a:spcAft>
            </a:pPr>
            <a:r>
              <a:rPr sz="1100" dirty="0">
                <a:solidFill>
                  <a:srgbClr val="1E3A5F"/>
                </a:solidFill>
                <a:latin typeface="Consolas"/>
              </a:rPr>
              <a:t>    7. Le site affiche     &lt;------   6. Le </a:t>
            </a:r>
            <a:r>
              <a:rPr sz="1100" dirty="0" err="1">
                <a:solidFill>
                  <a:srgbClr val="1E3A5F"/>
                </a:solidFill>
                <a:latin typeface="Consolas"/>
              </a:rPr>
              <a:t>serveur</a:t>
            </a:r>
            <a:r>
              <a:rPr sz="1100" dirty="0">
                <a:solidFill>
                  <a:srgbClr val="1E3A5F"/>
                </a:solidFill>
                <a:latin typeface="Consolas"/>
              </a:rPr>
              <a:t> prepare</a:t>
            </a:r>
          </a:p>
          <a:p>
            <a:pPr>
              <a:spcAft>
                <a:spcPts val="0"/>
              </a:spcAft>
            </a:pPr>
            <a:r>
              <a:rPr sz="1100" dirty="0">
                <a:solidFill>
                  <a:srgbClr val="1E3A5F"/>
                </a:solidFill>
                <a:latin typeface="Consolas"/>
              </a:rPr>
              <a:t>       le planning                      la </a:t>
            </a:r>
            <a:r>
              <a:rPr sz="1100" dirty="0" err="1">
                <a:solidFill>
                  <a:srgbClr val="1E3A5F"/>
                </a:solidFill>
                <a:latin typeface="Consolas"/>
              </a:rPr>
              <a:t>reponse</a:t>
            </a:r>
            <a:r>
              <a:rPr sz="1100" dirty="0">
                <a:solidFill>
                  <a:srgbClr val="1E3A5F"/>
                </a:solidFill>
                <a:latin typeface="Consolas"/>
              </a:rPr>
              <a:t> et</a:t>
            </a:r>
          </a:p>
          <a:p>
            <a:pPr>
              <a:spcAft>
                <a:spcPts val="0"/>
              </a:spcAft>
            </a:pPr>
            <a:r>
              <a:rPr sz="1100" dirty="0">
                <a:solidFill>
                  <a:srgbClr val="1E3A5F"/>
                </a:solidFill>
                <a:latin typeface="Consolas"/>
              </a:rPr>
              <a:t>       de Lundi !                       </a:t>
            </a:r>
            <a:r>
              <a:rPr sz="1100" dirty="0" err="1">
                <a:solidFill>
                  <a:srgbClr val="1E3A5F"/>
                </a:solidFill>
                <a:latin typeface="Consolas"/>
              </a:rPr>
              <a:t>l'envoie</a:t>
            </a:r>
            <a:r>
              <a:rPr sz="1100" dirty="0">
                <a:solidFill>
                  <a:srgbClr val="1E3A5F"/>
                </a:solidFill>
                <a:latin typeface="Consolas"/>
              </a:rPr>
              <a:t> au site</a:t>
            </a:r>
          </a:p>
          <a:p>
            <a:pPr>
              <a:spcAft>
                <a:spcPts val="0"/>
              </a:spcAft>
            </a:pPr>
            <a:endParaRPr sz="1100" dirty="0">
              <a:solidFill>
                <a:srgbClr val="1E3A5F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100" dirty="0">
                <a:solidFill>
                  <a:srgbClr val="1E3A5F"/>
                </a:solidFill>
                <a:latin typeface="Consolas"/>
              </a:rPr>
              <a:t>    Tout ca se passe </a:t>
            </a:r>
            <a:r>
              <a:rPr sz="1100" dirty="0" err="1">
                <a:solidFill>
                  <a:srgbClr val="1E3A5F"/>
                </a:solidFill>
                <a:latin typeface="Consolas"/>
              </a:rPr>
              <a:t>en</a:t>
            </a:r>
            <a:r>
              <a:rPr sz="1100" dirty="0">
                <a:solidFill>
                  <a:srgbClr val="1E3A5F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1E3A5F"/>
                </a:solidFill>
                <a:latin typeface="Consolas"/>
              </a:rPr>
              <a:t>moins</a:t>
            </a:r>
            <a:r>
              <a:rPr sz="1100" dirty="0">
                <a:solidFill>
                  <a:srgbClr val="1E3A5F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1E3A5F"/>
                </a:solidFill>
                <a:latin typeface="Consolas"/>
              </a:rPr>
              <a:t>d'une</a:t>
            </a:r>
            <a:r>
              <a:rPr sz="1100" dirty="0">
                <a:solidFill>
                  <a:srgbClr val="1E3A5F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1E3A5F"/>
                </a:solidFill>
                <a:latin typeface="Consolas"/>
              </a:rPr>
              <a:t>seconde</a:t>
            </a:r>
            <a:r>
              <a:rPr sz="1100" dirty="0">
                <a:solidFill>
                  <a:srgbClr val="1E3A5F"/>
                </a:solidFill>
                <a:latin typeface="Consolas"/>
              </a:rPr>
              <a:t> 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400"/>
              </a:spcBef>
            </a:pPr>
            <a:r>
              <a:rPr sz="4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Les outils utilises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FDBFE"/>
                </a:solidFill>
                <a:latin typeface="Calibri"/>
              </a:rPr>
              <a:t>A quoi sert chaque brique — explique simplement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Les outils — Vue d'ensemble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FDBFE"/>
                </a:solidFill>
                <a:latin typeface="Calibri"/>
              </a:rPr>
              <a:t>Chaque outil a un role precis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GitHub : </a:t>
            </a:r>
            <a:r>
              <a:rPr sz="1300" dirty="0">
                <a:solidFill>
                  <a:srgbClr val="1F1F1F"/>
                </a:solidFill>
                <a:latin typeface="Calibri"/>
              </a:rPr>
              <a:t>le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coffre</a:t>
            </a:r>
            <a:r>
              <a:rPr sz="1300" dirty="0">
                <a:solidFill>
                  <a:srgbClr val="1F1F1F"/>
                </a:solidFill>
                <a:latin typeface="Calibri"/>
              </a:rPr>
              <a:t>-fort qui garde tout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l'historique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du code (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comme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Google Drive pour du code)</a:t>
            </a: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Docker :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l'emballage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qui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garantit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que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l'application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fonctionne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partout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de la meme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facon</a:t>
            </a:r>
            <a:endParaRPr sz="1300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Nginx : </a:t>
            </a:r>
            <a:r>
              <a:rPr sz="1300" dirty="0">
                <a:solidFill>
                  <a:srgbClr val="1F1F1F"/>
                </a:solidFill>
                <a:latin typeface="Calibri"/>
              </a:rPr>
              <a:t>le portier qui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accueille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les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visiteurs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et les dirige au bon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endroit</a:t>
            </a:r>
            <a:endParaRPr sz="1300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React :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l'outil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qui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construit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l'interface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visible (boutons, tableaux, pages...)</a:t>
            </a: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</a:t>
            </a:r>
            <a:r>
              <a:rPr sz="1300" b="1" dirty="0" err="1">
                <a:solidFill>
                  <a:srgbClr val="1F1F1F"/>
                </a:solidFill>
                <a:latin typeface="Calibri"/>
              </a:rPr>
              <a:t>Fastify</a:t>
            </a:r>
            <a:r>
              <a:rPr sz="1300" b="1" dirty="0">
                <a:solidFill>
                  <a:srgbClr val="1F1F1F"/>
                </a:solidFill>
                <a:latin typeface="Calibri"/>
              </a:rPr>
              <a:t> : </a:t>
            </a:r>
            <a:r>
              <a:rPr sz="1300" dirty="0">
                <a:solidFill>
                  <a:srgbClr val="1F1F1F"/>
                </a:solidFill>
                <a:latin typeface="Calibri"/>
              </a:rPr>
              <a:t>le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moteur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invisible qui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traite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les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demandes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et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va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chercher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les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donnees</a:t>
            </a:r>
            <a:endParaRPr sz="1300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SQLite : </a:t>
            </a:r>
            <a:r>
              <a:rPr sz="1300" dirty="0">
                <a:solidFill>
                  <a:srgbClr val="1F1F1F"/>
                </a:solidFill>
                <a:latin typeface="Calibri"/>
              </a:rPr>
              <a:t>le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classeur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ou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toutes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les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donnees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sont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rangees</a:t>
            </a:r>
            <a:endParaRPr sz="1300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Microsoft Fabric : </a:t>
            </a:r>
            <a:r>
              <a:rPr sz="1300" dirty="0">
                <a:solidFill>
                  <a:srgbClr val="1F1F1F"/>
                </a:solidFill>
                <a:latin typeface="Calibri"/>
              </a:rPr>
              <a:t>le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fournisseur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de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donnees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HK</a:t>
            </a: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Azure AD : </a:t>
            </a:r>
            <a:r>
              <a:rPr sz="1300" dirty="0">
                <a:solidFill>
                  <a:srgbClr val="1F1F1F"/>
                </a:solidFill>
                <a:latin typeface="Calibri"/>
              </a:rPr>
              <a:t>le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vigile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qui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verifie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votre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identite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quand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vous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vous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connectez</a:t>
            </a:r>
            <a:endParaRPr sz="1300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Windsurf :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l'outil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du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developpeur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pour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ecrire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le code (avec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une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IA qui aide)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GitHub — Le coffre-fort du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5029200" cy="4114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73152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C'est quoi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Imaginez un Google Drive,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134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mais specialise pour le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8254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Chaque modification 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81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enregistree avec un message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qui dit ce qui a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935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84962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On peut revenir en arriere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0565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a tout moment, comme 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616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historique de versions illimite.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1554480"/>
            <a:ext cx="5760720" cy="4114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0" y="1554480"/>
            <a:ext cx="73152" cy="4114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1691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A quoi ca sert ici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0574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1. SAUVEGARDER le code en ligne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3134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   (meme si le PC tombe en panne,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56946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   rien n'est perdu)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82549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0" y="30815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2. PARTAGER le 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3375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   (un nouveau collegue peut recuperer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5935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   tout le projet en 2 minutes)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84962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20" y="410565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3. METTRE A JOUR l'application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36168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   (le serveur va chercher la derniere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617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   version du code sur GitHub)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Docker — L'emballage universel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5029200" cy="4114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73152" cy="4114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C'est quoi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Imaginez que vous envoyez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134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un colis. Si vous envoyez 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pieces en vrac, le destinataire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254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ne saura pas les assembler.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81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Docker = vous envoyez 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935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meuble DEJA MONTE dans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962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une boite parfaite.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0565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3616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L'application + tout ce qu'il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17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lui faut = dans un conteneur.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554480"/>
            <a:ext cx="5760720" cy="4114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0" y="1554480"/>
            <a:ext cx="73152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1691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Pourquoi c'est important 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0574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Sans Docker 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3134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  'Ca marche sur mon PC mais pas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56946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   sur le serveur !' (classique)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82549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0" y="30815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Avec Docker 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3375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  L'application fonctionne exactement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5935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  pareil partout.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84962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17920" y="410565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Dans notre cas 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36168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  2 conteneurs : un pour le site web,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617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  un pour le moteur + base de donnees.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Windsurf — L'outil du developpeur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5029200" cy="4114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73152" cy="4114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C'est quoi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C'est l'outil dans lequel 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134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developpeur ecrit le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8254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Comme Word pour ecrire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81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une lettre, Windsurf c'est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pour ecrire du code.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935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84962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Sa particularite : il a une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0565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IA integree (Cascade) qui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616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aide a ecrire le code !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1554480"/>
            <a:ext cx="5760720" cy="4114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0" y="1554480"/>
            <a:ext cx="73152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1691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Cascade (l'IA)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0574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Imaginez un assistant a qui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3134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vous dites en francais 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56946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0" y="282549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  'Ajoute un bouton qui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0815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   exporte le planning en PDF'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3375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35935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Et il ecrit le code pour vous 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84962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20" y="410565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L'essentiel de cette application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36168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a ete developpe comme ca 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617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on decrit ce qu'on veut,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8737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l'IA le programme.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400"/>
              </a:spcBef>
            </a:pPr>
            <a:r>
              <a:rPr sz="4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Ou vit l'application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FDBFE"/>
                </a:solidFill>
                <a:latin typeface="Calibri"/>
              </a:rPr>
              <a:t>Le serveur et comment y acceder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L'application tourne sur un serveur dedie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5029200" cy="4389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73152" cy="4389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Le serveur (la VM)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C'est un ordinateur qui tourne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134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24h/24, 7j/7, sur le reseau CAA.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8254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Il n'a pas d'ecran : on 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81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controle a distance.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5935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Adresse : 192.168.13.51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962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Systeme : Debian 13 (Linux)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0565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3616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Il heberge les 2 conteneurs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17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Docker (le site web + le moteur).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554480"/>
            <a:ext cx="5760720" cy="4389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0" y="1554480"/>
            <a:ext cx="73152" cy="43891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1691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Comment y acceder 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0574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EN TANT QU'UTILISATEUR 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3134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  Ouvrir un navigateur web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56946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  Taper : https://192.168.13.51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82549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  Se connecter avec son compte Microsoft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0815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  C'est tout 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3375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0" y="35935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EN TANT QU'ADMINISTRATEUR 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84962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  Ouvrir mRemoteNG (logiciel Windows)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10565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  Se connecter en SSH au serveur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36168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  Taper des commandes pour maintenir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617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  l'application (voir logs, redemarrer...)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Schema simplifie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endParaRPr/>
          </a:p>
          <a:p>
            <a:pPr>
              <a:spcAft>
                <a:spcPts val="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    VOTRE PC                                     LE SERVEUR (192.168.13.51)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    --------                                     ---------</a:t>
            </a:r>
          </a:p>
          <a:p>
            <a:pPr>
              <a:spcAft>
                <a:spcPts val="0"/>
              </a:spcAft>
            </a:pPr>
            <a:endParaRPr sz="1100">
              <a:solidFill>
                <a:srgbClr val="1E3A5F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    Navigateur web                               Systeme : Debian 13 (Linux)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    (Chrome, Edge...)                                    |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          |                                        ------+------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          |   https://192.168.13.51                |           |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          | --------------------------------&gt;  Le PORTIER   Le MOTEUR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          |                                   (Nginx)     (Fastify)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          |                                       |           |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          |   Vous recevez la page                |      La BASE DE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          | &lt;--------------------------------     |      DONNEES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          |                                       |      (SQLite)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                                            Le site web  Toutes vos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                                            (les pages,  donnees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                                             boutons...)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400"/>
              </a:spcBef>
            </a:pPr>
            <a:r>
              <a:rPr sz="4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D'ou viennent les donnees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FDBFE"/>
                </a:solidFill>
                <a:latin typeface="Calibri"/>
              </a:rPr>
              <a:t>La synchronisation avec HK / Microsoft Fabric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Les donnees arrivent automatiquement de HK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11247120" cy="914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73152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Le principe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Toutes les heures, l'application va chercher les donnees a jour dans le systeme HK (via Microsoft Fabric).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Filiales : </a:t>
            </a:r>
            <a:r>
              <a:rPr sz="1400">
                <a:solidFill>
                  <a:srgbClr val="1F1F1F"/>
                </a:solidFill>
                <a:latin typeface="Calibri"/>
              </a:rPr>
              <a:t>CAA Guadeloupe, Martinique, etc. — importees automatiquement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Ateliers et equipes : </a:t>
            </a:r>
            <a:r>
              <a:rPr sz="1400">
                <a:solidFill>
                  <a:srgbClr val="1F1F1F"/>
                </a:solidFill>
                <a:latin typeface="Calibri"/>
              </a:rPr>
              <a:t>structure organisationnelle importee de HK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Employes : </a:t>
            </a:r>
            <a:r>
              <a:rPr sz="1400">
                <a:solidFill>
                  <a:srgbClr val="1F1F1F"/>
                </a:solidFill>
                <a:latin typeface="Calibri"/>
              </a:rPr>
              <a:t>noms, matricules, qualifications — importes et mis a jour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Chantiers : </a:t>
            </a:r>
            <a:r>
              <a:rPr sz="1400">
                <a:solidFill>
                  <a:srgbClr val="1F1F1F"/>
                </a:solidFill>
                <a:latin typeface="Calibri"/>
              </a:rPr>
              <a:t>codes, libelles, dates, statuts — importes de HK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OF et articles : </a:t>
            </a:r>
            <a:r>
              <a:rPr sz="1400">
                <a:solidFill>
                  <a:srgbClr val="1F1F1F"/>
                </a:solidFill>
                <a:latin typeface="Calibri"/>
              </a:rPr>
              <a:t>ordres de fabrication et leurs articles — importes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Clients et affaires : </a:t>
            </a:r>
            <a:r>
              <a:rPr sz="1400">
                <a:solidFill>
                  <a:srgbClr val="1F1F1F"/>
                </a:solidFill>
                <a:latin typeface="Calibri"/>
              </a:rPr>
              <a:t>informations commerciales — importees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Ce qui est local (pas dans HK)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Le planning (qui travaille ou, quand) : </a:t>
            </a:r>
            <a:r>
              <a:rPr sz="1400">
                <a:solidFill>
                  <a:srgbClr val="1F1F1F"/>
                </a:solidFill>
                <a:latin typeface="Calibri"/>
              </a:rPr>
              <a:t>cree directement dans l'application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Les absences (CP, RTT, maladie) : </a:t>
            </a:r>
            <a:r>
              <a:rPr sz="1400">
                <a:solidFill>
                  <a:srgbClr val="1F1F1F"/>
                </a:solidFill>
                <a:latin typeface="Calibri"/>
              </a:rPr>
              <a:t>saisies dans l'application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Les questions et reponses : </a:t>
            </a:r>
            <a:r>
              <a:rPr sz="1400">
                <a:solidFill>
                  <a:srgbClr val="1F1F1F"/>
                </a:solidFill>
                <a:latin typeface="Calibri"/>
              </a:rPr>
              <a:t>creees dans l'application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Les plans de fabrication : </a:t>
            </a:r>
            <a:r>
              <a:rPr sz="1400">
                <a:solidFill>
                  <a:srgbClr val="1F1F1F"/>
                </a:solidFill>
                <a:latin typeface="Calibri"/>
              </a:rPr>
              <a:t>crees dans l'application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Les pieces jointes (photos, PDF) : </a:t>
            </a:r>
            <a:r>
              <a:rPr sz="1400">
                <a:solidFill>
                  <a:srgbClr val="1F1F1F"/>
                </a:solidFill>
                <a:latin typeface="Calibri"/>
              </a:rPr>
              <a:t>uploadees dans l'application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Ces donnees ne sont PAS ecrasees par la synchronisation.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La sync importe uniquement les donnees de reference (employes, chantiers, OF...).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400"/>
              </a:spcBef>
            </a:pPr>
            <a:r>
              <a:rPr sz="4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Comment on met a jour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FDBFE"/>
                </a:solidFill>
                <a:latin typeface="Calibri"/>
              </a:rPr>
              <a:t>Le processus de mise a jour de l'application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La mise a jour est automatique !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11247120" cy="1097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73152" cy="1097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Le principe (3 etapes simples)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1. Le developpeur envoie ses modifications sur GitHub    2. Le serveur detecte les changements    3. L'application se met a jour toute seule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Le serveur verifie GitHub toutes les 5 minutes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S'il detecte du nouveau code, il telecharge la mise a jour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Il reconstruit l'application automatiquement (via Docker)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L'application redémarre avec la nouvelle version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Aucune action necessaire cote utilisateurs !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Les utilisateurs voient la mise a jour en rafraichissant leur page (F5).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Les donnees (planning, questions, plans...) ne sont JAMAIS perdues lors d'une mise a jour.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Schema de la mise a jour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endParaRPr/>
          </a:p>
          <a:p>
            <a:pPr>
              <a:spcAft>
                <a:spcPts val="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    PC du developpeur                GitHub                  Serveur (VM)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    --------------------             ------                  -----------</a:t>
            </a:r>
          </a:p>
          <a:p>
            <a:pPr>
              <a:spcAft>
                <a:spcPts val="0"/>
              </a:spcAft>
            </a:pPr>
            <a:endParaRPr sz="1100">
              <a:solidFill>
                <a:srgbClr val="1E3A5F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    1. Le dev modifie    --------&gt;  2. Le code est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       le code et                      stocke en ligne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       l'envoie                              |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                                             |  (toutes les 5 min)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                                             v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                                    3. Le serveur detecte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                                       le nouveau code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                                             |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                                             v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                                    4. Il reconstruit     --------&gt;  5. L'application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                                       l'application                    est a jour !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                                       (Docker rebuild)</a:t>
            </a:r>
          </a:p>
          <a:p>
            <a:pPr>
              <a:spcAft>
                <a:spcPts val="0"/>
              </a:spcAft>
            </a:pPr>
            <a:endParaRPr sz="1100">
              <a:solidFill>
                <a:srgbClr val="1E3A5F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    Resultat : le dev envoie son code, tout le reste est automatique.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400"/>
              </a:spcBef>
            </a:pPr>
            <a:r>
              <a:rPr sz="4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La securite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FDBFE"/>
                </a:solidFill>
                <a:latin typeface="Calibri"/>
              </a:rPr>
              <a:t>Qui peut acceder, et comment c'est protege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L'application est securisee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554480"/>
            <a:ext cx="3566160" cy="4114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554480"/>
            <a:ext cx="73152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Connexion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On se connecte avec 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134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compte Microsoft pro (@caa).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694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82549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C'est le meme identifiant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815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que pour Outlook ou Teams.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37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59359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Pas de mot de passe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4962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supplementaire a retenir.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0565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436168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Seuls les employes CAA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17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autorises peuvent acceder.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1554480"/>
            <a:ext cx="3566160" cy="4114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114800" y="1554480"/>
            <a:ext cx="73152" cy="4114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89120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Protection des donnees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057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Connexion chiffree (HTTPS) 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3134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les donnees sont protegees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5694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quand elles transitent.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82549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89120" y="30815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Sauvegardes automatiques 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337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chaque nuit a 2h du matin,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59359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une copie de la base est faite.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384962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89120" y="410565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30 jours de sauvegardes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36168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conserves sur le serveur.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5279" y="1554480"/>
            <a:ext cx="3566160" cy="4114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55279" y="1554480"/>
            <a:ext cx="73152" cy="4114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599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Acces au serveur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9" y="2057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Le serveur n'est accessible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599" y="23134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que sur le reseau interne CAA.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9" y="25694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599" y="282549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L'administration se fait par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599" y="30815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SSH (connexion securisee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599" y="3337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par cle, pas par mot de passe).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599" y="359359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29599" y="384962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Les secrets (mots de passe,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599" y="410565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cles) sont stockes dans un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599" y="436168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fichier protege (.env).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400"/>
              </a:spcBef>
            </a:pPr>
            <a:r>
              <a:rPr sz="4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Pour aller plus loin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FDBFE"/>
                </a:solidFill>
                <a:latin typeface="Calibri"/>
              </a:rPr>
              <a:t>Si vous devez intervenir sur l'application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Pour le developpeur : les commandes essentielles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5029200" cy="4114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73152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Sur le serveur (via SSH)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docker compose 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134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  -&gt; Voir si tout tourne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8254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docker compose logs -f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81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  -&gt; Voir ce qui se passe en direct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5935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docker compose restart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962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  -&gt; Redemarrer l'application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0565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3616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./scripts/deploy.sh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17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  -&gt; Forcer une mise a jour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554480"/>
            <a:ext cx="5760720" cy="4114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0" y="1554480"/>
            <a:ext cx="73152" cy="4114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1691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Sur le PC de dev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0574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git clone [url du repo]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3134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  -&gt; Recuperer tout le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56946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0" y="282549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npm run dev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0815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  -&gt; Lancer le site en local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3375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0" y="35935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cd api &amp;&amp; npm run dev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84962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  -&gt; Lancer le serveur en local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10565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0" y="436168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git push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617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  -&gt; Envoyer les modifications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Les numeros importants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554480"/>
            <a:ext cx="3566160" cy="2743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554480"/>
            <a:ext cx="73152" cy="27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Adresses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Application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134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https://192.168.13.51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694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82549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Serveur VM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815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192.168.13.51 (SSH)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37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59359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PC dev : 192.168.13.50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1554480"/>
            <a:ext cx="3566160" cy="2743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114800" y="1554480"/>
            <a:ext cx="73152" cy="2743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9120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Code 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057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GitHub 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3134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github.com/CYBERTESTCAA/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5694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PLANNING_PREVISIONNEL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82549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89120" y="30815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Branche principale : main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1554480"/>
            <a:ext cx="3566160" cy="2743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55279" y="1554480"/>
            <a:ext cx="73152" cy="2743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599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Automatisations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9" y="2057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Sync HK : toutes les heures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9" y="23134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Mise a jour : toutes les 5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9" y="25694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Sauvegarde : chaque nuit a 2h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9" y="282549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599" y="30815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Tout est automatique !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Merci 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BFDBFE"/>
                </a:solidFill>
                <a:latin typeface="Calibri"/>
              </a:rPr>
              <a:t>Des questions ?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389120"/>
            <a:ext cx="3657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3C5FD"/>
                </a:solidFill>
                <a:latin typeface="Calibri"/>
              </a:rPr>
              <a:t>Projet SUIVI DE CHANTIERS  •  CAA Guadeloupe  •  2025-2026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2133</Words>
  <Application>Microsoft Office PowerPoint</Application>
  <PresentationFormat>Grand écran</PresentationFormat>
  <Paragraphs>352</Paragraphs>
  <Slides>28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Niel POUPELIN</cp:lastModifiedBy>
  <cp:revision>2</cp:revision>
  <dcterms:created xsi:type="dcterms:W3CDTF">2013-01-27T09:14:16Z</dcterms:created>
  <dcterms:modified xsi:type="dcterms:W3CDTF">2026-03-06T07:24:11Z</dcterms:modified>
  <cp:category/>
</cp:coreProperties>
</file>